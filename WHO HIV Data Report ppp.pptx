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AE174F-9821-43C2-8398-02425C3C1112}" v="1" dt="2026-05-21T20:56:30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8B6470-96B0-4410-B4B5-339882F2E21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630BACD-9E6D-463C-9885-CC2AEA2F3029}">
      <dgm:prSet custT="1"/>
      <dgm:spPr>
        <a:solidFill>
          <a:srgbClr val="1F2937">
            <a:alpha val="90000"/>
          </a:srgbClr>
        </a:solidFill>
      </dgm:spPr>
      <dgm:t>
        <a:bodyPr/>
        <a:lstStyle/>
        <a:p>
          <a:r>
            <a:rPr lang="en-US" sz="2400" dirty="0">
              <a:solidFill>
                <a:schemeClr val="bg1">
                  <a:lumMod val="95000"/>
                </a:schemeClr>
              </a:solidFill>
            </a:rPr>
            <a:t>This project analyzes global HIV trends using WHO datasets to uncover insights into deaths , treatment coverage, and survival outcomes globally.</a:t>
          </a:r>
          <a:endParaRPr lang="en-US" sz="2400" dirty="0"/>
        </a:p>
      </dgm:t>
    </dgm:pt>
    <dgm:pt modelId="{AD1957FB-3C18-404A-B3E8-832ED91264BF}" type="parTrans" cxnId="{7B9592B9-CBBA-4F4B-AE64-48D5CE3C98D4}">
      <dgm:prSet/>
      <dgm:spPr/>
      <dgm:t>
        <a:bodyPr/>
        <a:lstStyle/>
        <a:p>
          <a:endParaRPr lang="en-US"/>
        </a:p>
      </dgm:t>
    </dgm:pt>
    <dgm:pt modelId="{DFE14DF7-62EC-4CFD-874C-320D78404667}" type="sibTrans" cxnId="{7B9592B9-CBBA-4F4B-AE64-48D5CE3C98D4}">
      <dgm:prSet/>
      <dgm:spPr/>
      <dgm:t>
        <a:bodyPr/>
        <a:lstStyle/>
        <a:p>
          <a:endParaRPr lang="en-US"/>
        </a:p>
      </dgm:t>
    </dgm:pt>
    <dgm:pt modelId="{7E4F5950-263B-4D78-A84D-92DCE3BB4698}">
      <dgm:prSet custT="1"/>
      <dgm:spPr>
        <a:solidFill>
          <a:srgbClr val="1F2937">
            <a:alpha val="90000"/>
          </a:srgbClr>
        </a:solidFill>
      </dgm:spPr>
      <dgm:t>
        <a:bodyPr/>
        <a:lstStyle/>
        <a:p>
          <a:r>
            <a:rPr lang="en-US" sz="2400" dirty="0">
              <a:solidFill>
                <a:schemeClr val="bg1">
                  <a:lumMod val="95000"/>
                </a:schemeClr>
              </a:solidFill>
            </a:rPr>
            <a:t>The dashboard was developed using Power BI , DAX, and  Power query to support healthcare decision making through data driven insights.   </a:t>
          </a:r>
        </a:p>
      </dgm:t>
    </dgm:pt>
    <dgm:pt modelId="{49EBB517-1106-43B6-B9F9-78A1807C980E}" type="parTrans" cxnId="{9609FFB4-944A-4675-B644-8731488DE2A6}">
      <dgm:prSet/>
      <dgm:spPr/>
      <dgm:t>
        <a:bodyPr/>
        <a:lstStyle/>
        <a:p>
          <a:endParaRPr lang="en-US"/>
        </a:p>
      </dgm:t>
    </dgm:pt>
    <dgm:pt modelId="{E43B421E-FDFC-4C52-843F-FACA93FC53A8}" type="sibTrans" cxnId="{9609FFB4-944A-4675-B644-8731488DE2A6}">
      <dgm:prSet/>
      <dgm:spPr/>
      <dgm:t>
        <a:bodyPr/>
        <a:lstStyle/>
        <a:p>
          <a:endParaRPr lang="en-US"/>
        </a:p>
      </dgm:t>
    </dgm:pt>
    <dgm:pt modelId="{7712B59B-9896-4F6F-9D3E-C313C6D38CBF}" type="pres">
      <dgm:prSet presAssocID="{4E8B6470-96B0-4410-B4B5-339882F2E21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FEF1E92-F0F9-489A-95F4-28BC6E554B73}" type="pres">
      <dgm:prSet presAssocID="{A630BACD-9E6D-463C-9885-CC2AEA2F3029}" presName="hierRoot1" presStyleCnt="0"/>
      <dgm:spPr/>
    </dgm:pt>
    <dgm:pt modelId="{74DDC2B0-B303-47D8-AADC-E92A5535E23D}" type="pres">
      <dgm:prSet presAssocID="{A630BACD-9E6D-463C-9885-CC2AEA2F3029}" presName="composite" presStyleCnt="0"/>
      <dgm:spPr/>
    </dgm:pt>
    <dgm:pt modelId="{48943E75-4A7F-4FB5-94D8-5B94C9178026}" type="pres">
      <dgm:prSet presAssocID="{A630BACD-9E6D-463C-9885-CC2AEA2F3029}" presName="background" presStyleLbl="node0" presStyleIdx="0" presStyleCnt="2"/>
      <dgm:spPr/>
    </dgm:pt>
    <dgm:pt modelId="{630A7EDF-8849-4EFC-9164-96907434DCB0}" type="pres">
      <dgm:prSet presAssocID="{A630BACD-9E6D-463C-9885-CC2AEA2F3029}" presName="text" presStyleLbl="fgAcc0" presStyleIdx="0" presStyleCnt="2">
        <dgm:presLayoutVars>
          <dgm:chPref val="3"/>
        </dgm:presLayoutVars>
      </dgm:prSet>
      <dgm:spPr/>
    </dgm:pt>
    <dgm:pt modelId="{4A29404D-C865-4424-A5A0-CEB3D70FE8BE}" type="pres">
      <dgm:prSet presAssocID="{A630BACD-9E6D-463C-9885-CC2AEA2F3029}" presName="hierChild2" presStyleCnt="0"/>
      <dgm:spPr/>
    </dgm:pt>
    <dgm:pt modelId="{1CCBF9FF-FC17-4581-8677-08ED3D3FB06F}" type="pres">
      <dgm:prSet presAssocID="{7E4F5950-263B-4D78-A84D-92DCE3BB4698}" presName="hierRoot1" presStyleCnt="0"/>
      <dgm:spPr/>
    </dgm:pt>
    <dgm:pt modelId="{E8FBFE56-C327-4216-AF75-97FD82FE9178}" type="pres">
      <dgm:prSet presAssocID="{7E4F5950-263B-4D78-A84D-92DCE3BB4698}" presName="composite" presStyleCnt="0"/>
      <dgm:spPr/>
    </dgm:pt>
    <dgm:pt modelId="{886416CC-5DBD-4902-A478-9B3E17ADD39A}" type="pres">
      <dgm:prSet presAssocID="{7E4F5950-263B-4D78-A84D-92DCE3BB4698}" presName="background" presStyleLbl="node0" presStyleIdx="1" presStyleCnt="2"/>
      <dgm:spPr/>
    </dgm:pt>
    <dgm:pt modelId="{0C9C8069-3CA8-48C9-9835-856218986374}" type="pres">
      <dgm:prSet presAssocID="{7E4F5950-263B-4D78-A84D-92DCE3BB4698}" presName="text" presStyleLbl="fgAcc0" presStyleIdx="1" presStyleCnt="2">
        <dgm:presLayoutVars>
          <dgm:chPref val="3"/>
        </dgm:presLayoutVars>
      </dgm:prSet>
      <dgm:spPr/>
    </dgm:pt>
    <dgm:pt modelId="{7E593D7C-15BC-46FF-8730-3326E6CACA72}" type="pres">
      <dgm:prSet presAssocID="{7E4F5950-263B-4D78-A84D-92DCE3BB4698}" presName="hierChild2" presStyleCnt="0"/>
      <dgm:spPr/>
    </dgm:pt>
  </dgm:ptLst>
  <dgm:cxnLst>
    <dgm:cxn modelId="{B9554F87-FD20-42D6-845F-C2A1D5339982}" type="presOf" srcId="{4E8B6470-96B0-4410-B4B5-339882F2E21F}" destId="{7712B59B-9896-4F6F-9D3E-C313C6D38CBF}" srcOrd="0" destOrd="0" presId="urn:microsoft.com/office/officeart/2005/8/layout/hierarchy1"/>
    <dgm:cxn modelId="{7B1F8997-BE41-4058-8A23-153D8EBBEF5C}" type="presOf" srcId="{A630BACD-9E6D-463C-9885-CC2AEA2F3029}" destId="{630A7EDF-8849-4EFC-9164-96907434DCB0}" srcOrd="0" destOrd="0" presId="urn:microsoft.com/office/officeart/2005/8/layout/hierarchy1"/>
    <dgm:cxn modelId="{9609FFB4-944A-4675-B644-8731488DE2A6}" srcId="{4E8B6470-96B0-4410-B4B5-339882F2E21F}" destId="{7E4F5950-263B-4D78-A84D-92DCE3BB4698}" srcOrd="1" destOrd="0" parTransId="{49EBB517-1106-43B6-B9F9-78A1807C980E}" sibTransId="{E43B421E-FDFC-4C52-843F-FACA93FC53A8}"/>
    <dgm:cxn modelId="{7B9592B9-CBBA-4F4B-AE64-48D5CE3C98D4}" srcId="{4E8B6470-96B0-4410-B4B5-339882F2E21F}" destId="{A630BACD-9E6D-463C-9885-CC2AEA2F3029}" srcOrd="0" destOrd="0" parTransId="{AD1957FB-3C18-404A-B3E8-832ED91264BF}" sibTransId="{DFE14DF7-62EC-4CFD-874C-320D78404667}"/>
    <dgm:cxn modelId="{58E4EAE5-7767-470C-ACBD-93E4EA194B60}" type="presOf" srcId="{7E4F5950-263B-4D78-A84D-92DCE3BB4698}" destId="{0C9C8069-3CA8-48C9-9835-856218986374}" srcOrd="0" destOrd="0" presId="urn:microsoft.com/office/officeart/2005/8/layout/hierarchy1"/>
    <dgm:cxn modelId="{7AE2468C-07BE-4ADB-8BAD-A9224B1F2E3B}" type="presParOf" srcId="{7712B59B-9896-4F6F-9D3E-C313C6D38CBF}" destId="{9FEF1E92-F0F9-489A-95F4-28BC6E554B73}" srcOrd="0" destOrd="0" presId="urn:microsoft.com/office/officeart/2005/8/layout/hierarchy1"/>
    <dgm:cxn modelId="{791CB1D1-A4C2-47C5-9AD1-00432192773B}" type="presParOf" srcId="{9FEF1E92-F0F9-489A-95F4-28BC6E554B73}" destId="{74DDC2B0-B303-47D8-AADC-E92A5535E23D}" srcOrd="0" destOrd="0" presId="urn:microsoft.com/office/officeart/2005/8/layout/hierarchy1"/>
    <dgm:cxn modelId="{4F623B5F-01E1-48EC-BF92-D34AE12671B2}" type="presParOf" srcId="{74DDC2B0-B303-47D8-AADC-E92A5535E23D}" destId="{48943E75-4A7F-4FB5-94D8-5B94C9178026}" srcOrd="0" destOrd="0" presId="urn:microsoft.com/office/officeart/2005/8/layout/hierarchy1"/>
    <dgm:cxn modelId="{092742C1-5BA3-4D88-91E3-7CFF45B3FCC3}" type="presParOf" srcId="{74DDC2B0-B303-47D8-AADC-E92A5535E23D}" destId="{630A7EDF-8849-4EFC-9164-96907434DCB0}" srcOrd="1" destOrd="0" presId="urn:microsoft.com/office/officeart/2005/8/layout/hierarchy1"/>
    <dgm:cxn modelId="{838A8392-A026-4374-A205-C072F45ACA1C}" type="presParOf" srcId="{9FEF1E92-F0F9-489A-95F4-28BC6E554B73}" destId="{4A29404D-C865-4424-A5A0-CEB3D70FE8BE}" srcOrd="1" destOrd="0" presId="urn:microsoft.com/office/officeart/2005/8/layout/hierarchy1"/>
    <dgm:cxn modelId="{3BD830C5-4A2F-4460-8E38-885328C3A8F2}" type="presParOf" srcId="{7712B59B-9896-4F6F-9D3E-C313C6D38CBF}" destId="{1CCBF9FF-FC17-4581-8677-08ED3D3FB06F}" srcOrd="1" destOrd="0" presId="urn:microsoft.com/office/officeart/2005/8/layout/hierarchy1"/>
    <dgm:cxn modelId="{694EBC0B-2079-4A39-A345-D1032A7EA230}" type="presParOf" srcId="{1CCBF9FF-FC17-4581-8677-08ED3D3FB06F}" destId="{E8FBFE56-C327-4216-AF75-97FD82FE9178}" srcOrd="0" destOrd="0" presId="urn:microsoft.com/office/officeart/2005/8/layout/hierarchy1"/>
    <dgm:cxn modelId="{A88A7AF7-9CAA-4FCE-8C3E-A42919BFCCA7}" type="presParOf" srcId="{E8FBFE56-C327-4216-AF75-97FD82FE9178}" destId="{886416CC-5DBD-4902-A478-9B3E17ADD39A}" srcOrd="0" destOrd="0" presId="urn:microsoft.com/office/officeart/2005/8/layout/hierarchy1"/>
    <dgm:cxn modelId="{A0B5F845-A91E-4552-982E-7C23A4D9EC1A}" type="presParOf" srcId="{E8FBFE56-C327-4216-AF75-97FD82FE9178}" destId="{0C9C8069-3CA8-48C9-9835-856218986374}" srcOrd="1" destOrd="0" presId="urn:microsoft.com/office/officeart/2005/8/layout/hierarchy1"/>
    <dgm:cxn modelId="{C279D367-AB70-436F-8727-3980EC3EA36E}" type="presParOf" srcId="{1CCBF9FF-FC17-4581-8677-08ED3D3FB06F}" destId="{7E593D7C-15BC-46FF-8730-3326E6CACA7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43E75-4A7F-4FB5-94D8-5B94C9178026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0A7EDF-8849-4EFC-9164-96907434DCB0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rgbClr val="1F2937">
            <a:alpha val="90000"/>
          </a:srgb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>
                  <a:lumMod val="95000"/>
                </a:schemeClr>
              </a:solidFill>
            </a:rPr>
            <a:t>This project analyzes global HIV trends using WHO datasets to uncover insights into deaths , treatment coverage, and survival outcomes globally.</a:t>
          </a:r>
          <a:endParaRPr lang="en-US" sz="2400" kern="1200" dirty="0"/>
        </a:p>
      </dsp:txBody>
      <dsp:txXfrm>
        <a:off x="608661" y="692298"/>
        <a:ext cx="4508047" cy="2799040"/>
      </dsp:txXfrm>
    </dsp:sp>
    <dsp:sp modelId="{886416CC-5DBD-4902-A478-9B3E17ADD39A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C8069-3CA8-48C9-9835-856218986374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rgbClr val="1F2937">
            <a:alpha val="90000"/>
          </a:srgb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>
                  <a:lumMod val="95000"/>
                </a:schemeClr>
              </a:solidFill>
            </a:rPr>
            <a:t>The dashboard was developed using Power BI , DAX, and  Power query to support healthcare decision making through data driven insights.   </a:t>
          </a:r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FCC66-429F-4B7B-9950-D16E192671E3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1A1B6-9B92-4968-93BD-E9111F3AE8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804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1A1B6-9B92-4968-93BD-E9111F3AE82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052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EE29-8B43-5181-762B-8BC8E2E0F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7551C-3F9D-6F9F-1846-0AFE6A9F3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8D87C-AA2B-FE45-4700-6A41D53B0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2AE-9940-4982-AA30-24F98482CA0A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FB648-D520-58A1-D124-BAB505CE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F2B05-F20A-CE78-4F7C-13F5C6C9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7DD3-7B43-4F20-ABDC-6E9CAA7B98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597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8643-7D1E-3C81-ECF5-6F08EE0B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D5EEB-48EA-3E06-934A-22A481388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4B6F1-B66D-4376-E56E-5E80FE9A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2AE-9940-4982-AA30-24F98482CA0A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00181-D16A-22B6-3307-91FFFB0F3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DF569-BEEB-4CE3-2247-B12F24D8F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7DD3-7B43-4F20-ABDC-6E9CAA7B98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12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0E6D-6360-92AE-33DE-9FE09CCD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0C0BD-060C-0C82-15DC-9729C97BE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D1FC8-AF58-8BAE-FC79-63B8F626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2AE-9940-4982-AA30-24F98482CA0A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C0FBD-26B1-1FE9-24C0-F4BCDBF3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132CE-6B79-2AA9-AB04-5963C8E5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7DD3-7B43-4F20-ABDC-6E9CAA7B98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724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EC358-E162-C321-2F0F-4EB7A5F7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6E8E-69B3-0B74-150C-C66D07882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2C55B-4061-E1DD-7D75-6A3DBB14D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E438A-DB7F-A30E-B08D-0911641BE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2AE-9940-4982-AA30-24F98482CA0A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6B55F-C9F3-9E68-82BB-1B040FD8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C4386-5891-7B10-E9CC-C04F9E469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7DD3-7B43-4F20-ABDC-6E9CAA7B98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13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3A53-7460-09D9-00D2-DFE225DB6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9B0FB-556E-EAB1-A7D1-6D06BE5B7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6C939-02C0-09FA-F246-556FDDA42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6DCE65-E0B1-32F1-2D9B-7D22431B5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CB825-A6A5-0F83-2A89-684B48A78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E9CA75-4EBC-0618-B4DE-53C537DC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2AE-9940-4982-AA30-24F98482CA0A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387AEF-1DAD-B5C6-012A-4398250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DFC42-11F5-8D7A-E2F0-BBA66FE6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7DD3-7B43-4F20-ABDC-6E9CAA7B98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52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EAD22-B118-9714-3F71-F3DE6AB08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A65159-7D05-03BB-78ED-B6AA30606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2AE-9940-4982-AA30-24F98482CA0A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0FA0D-9277-D133-14A1-D8A1F577A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19E36-879D-78C6-23CF-6C7E66FFE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7DD3-7B43-4F20-ABDC-6E9CAA7B98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209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364484-0B42-1EEA-6B69-51EA3A6F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2AE-9940-4982-AA30-24F98482CA0A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58273-ED7D-9FAC-D62C-48E49FCE0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E3988-11C2-BF87-8882-41DF76CE6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7DD3-7B43-4F20-ABDC-6E9CAA7B98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132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B5584-0A3F-7347-24E6-D4A3087D0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324B9-C563-6FA4-E5AD-017D9E7CB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5B734-83E7-C3F6-9216-ED09C0726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A66FD-B5BD-85B7-5EFC-19AAE92F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2AE-9940-4982-AA30-24F98482CA0A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2A37A-BCDD-ECC2-CADA-0BB2391A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B7643-216E-8670-C13A-AA977500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7DD3-7B43-4F20-ABDC-6E9CAA7B98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59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CB3A-99E3-D374-9B6B-AE4AE5A7F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A9B7A-4CC1-8EF4-2F4D-C9367E322B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084B4-1580-8FF1-244F-7F8981907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1D2D4-8867-7715-091C-BFF76294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2AE-9940-4982-AA30-24F98482CA0A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0980C-67B6-37C5-9EA0-52C81BF19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B2156-5E8C-A3E2-515F-4B78A82A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7DD3-7B43-4F20-ABDC-6E9CAA7B98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97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B69A1-7160-63D5-AD8A-8DBF538E8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B97EE-3317-6580-E5A2-CE7F9E848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B6D29-20FA-3143-C0ED-75C9B576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2AE-9940-4982-AA30-24F98482CA0A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17244-C168-483D-FD47-AD237DE53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5635D-5740-C402-B73F-C72CDD40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7DD3-7B43-4F20-ABDC-6E9CAA7B98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98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43A96C-40FA-F509-F714-E94E750925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6DA08-B3B2-0E3F-3434-D768C7CF9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24222-D9B4-64C8-FEB4-F81898857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2AE-9940-4982-AA30-24F98482CA0A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9C086-3FB5-B55D-6663-BE75662CC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3FEFB-AFCA-C7F0-5ED0-5BF037B1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57DD3-7B43-4F20-ABDC-6E9CAA7B98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88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A37BB2-799F-A506-7E97-9993EF050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F64E3-DC2D-1F2D-D6DF-4B8344443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C96FA-E1AA-3E7C-88A2-D5855B167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F82AE-9940-4982-AA30-24F98482CA0A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3F5D2-9594-B82E-51B0-867ED821E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190D6-3EEF-08D6-79F6-9B0032432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57DD3-7B43-4F20-ABDC-6E9CAA7B98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992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F57C9-6912-032F-F7D9-AC8BC4E31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76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AB265-4F45-CEE3-9529-BA589162A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WHO HIV Data Analysis Dashboard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39F23-5BE0-D91F-5EE8-5A56D6AD2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</a:rPr>
              <a:t>Healthcare Data Analytics Project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bg1"/>
              </a:solidFill>
            </a:endParaRPr>
          </a:p>
          <a:p>
            <a:pPr algn="l"/>
            <a:endParaRPr lang="en-US" sz="1700" dirty="0">
              <a:solidFill>
                <a:schemeClr val="bg1"/>
              </a:solidFill>
            </a:endParaRP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  </a:t>
            </a:r>
            <a:r>
              <a:rPr lang="en-US" sz="1000" dirty="0">
                <a:solidFill>
                  <a:schemeClr val="bg1"/>
                </a:solidFill>
              </a:rPr>
              <a:t>Created by :   Onye Nnenna</a:t>
            </a:r>
          </a:p>
          <a:p>
            <a:pPr algn="l"/>
            <a:r>
              <a:rPr lang="en-US" sz="1000" dirty="0">
                <a:solidFill>
                  <a:schemeClr val="bg1"/>
                </a:solidFill>
              </a:rPr>
              <a:t>Tools Used:  Power BI, DAX, Power Query</a:t>
            </a:r>
          </a:p>
        </p:txBody>
      </p:sp>
    </p:spTree>
    <p:extLst>
      <p:ext uri="{BB962C8B-B14F-4D97-AF65-F5344CB8AC3E}">
        <p14:creationId xmlns:p14="http://schemas.microsoft.com/office/powerpoint/2010/main" val="809331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779ABE-DC5E-5B90-6259-B686D9E4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Project Overview</a:t>
            </a:r>
            <a:endParaRPr lang="en-GB" sz="32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DC2842-4AB2-5A86-2909-FF0E8A9D9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368808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7825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CF53-3D6E-806A-AAC3-55A0C26E5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388" y="365125"/>
            <a:ext cx="1110041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chemeClr val="bg1">
                    <a:lumMod val="85000"/>
                  </a:schemeClr>
                </a:solidFill>
              </a:rPr>
              <a:t>Data Modeling</a:t>
            </a:r>
            <a:endParaRPr lang="en-GB" sz="3200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2F57CC-CD1B-7D1C-6333-1B32103E1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88" y="1233714"/>
            <a:ext cx="11446525" cy="3381829"/>
          </a:xfrm>
          <a:prstGeom prst="rect">
            <a:avLst/>
          </a:prstGeom>
          <a:solidFill>
            <a:srgbClr val="1F2937"/>
          </a:solidFill>
          <a:effectLst>
            <a:outerShdw blurRad="50800" dist="50800" dir="5400000" algn="ctr" rotWithShape="0">
              <a:srgbClr val="1F2937">
                <a:alpha val="96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AC8113-B910-E375-EC17-4409DAABC552}"/>
              </a:ext>
            </a:extLst>
          </p:cNvPr>
          <p:cNvSpPr txBox="1"/>
          <p:nvPr/>
        </p:nvSpPr>
        <p:spPr>
          <a:xfrm>
            <a:off x="1132114" y="5196114"/>
            <a:ext cx="90569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The dataset was transformed into a clean star schema model consisting of one Fact table Multiple dimension tables including Year Dim ,  Indicator Dim , Location Dim. Dax measures were created to support KPI calculations and time intelligence analysis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77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F9CE3-F5D0-856B-6EB4-16FC64D8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006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Executive Overview Dashboard</a:t>
            </a:r>
            <a:endParaRPr lang="en-GB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FDFBF-DC8A-25AF-1047-D639DC30B7E7}"/>
              </a:ext>
            </a:extLst>
          </p:cNvPr>
          <p:cNvSpPr txBox="1"/>
          <p:nvPr/>
        </p:nvSpPr>
        <p:spPr>
          <a:xfrm flipH="1">
            <a:off x="7068457" y="1275189"/>
            <a:ext cx="468811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 dirty="0">
                <a:solidFill>
                  <a:schemeClr val="bg1">
                    <a:lumMod val="95000"/>
                  </a:schemeClr>
                </a:solidFill>
              </a:rPr>
              <a:t>I</a:t>
            </a:r>
            <a:r>
              <a:rPr lang="en-GB" sz="3200" u="sng" dirty="0" err="1">
                <a:solidFill>
                  <a:schemeClr val="bg1">
                    <a:lumMod val="95000"/>
                  </a:schemeClr>
                </a:solidFill>
              </a:rPr>
              <a:t>nsights</a:t>
            </a:r>
            <a:endParaRPr lang="en-GB" sz="3200" u="sng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GB" sz="2400" u="sng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HIV Infections declined over time globally.</a:t>
            </a:r>
          </a:p>
          <a:p>
            <a:pPr algn="ctr"/>
            <a:endParaRPr lang="en-GB" sz="20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South Africa recorded the highest level of new infections </a:t>
            </a:r>
          </a:p>
          <a:p>
            <a:pPr algn="ctr"/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algn="ctr"/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HIV related deaths shows a significant low trend generally but the trend is still high in some parts of Africa as seen in the dashboard.</a:t>
            </a:r>
          </a:p>
          <a:p>
            <a:pPr algn="ctr"/>
            <a:endParaRPr lang="en-GB" sz="20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Treatment coverage  improved significantly globally leading to increased survival outcomes and decreased mortality .</a:t>
            </a:r>
          </a:p>
          <a:p>
            <a:pPr algn="ctr"/>
            <a:endParaRPr lang="en-US" sz="2400" u="sng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354CFFB-952D-E670-B802-588BDE34C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18" y="1387370"/>
            <a:ext cx="5902096" cy="501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30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BDCE-0D74-0422-FB33-44A7975E3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00" y="365126"/>
            <a:ext cx="5370286" cy="76961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Treatment and Survival Insights</a:t>
            </a:r>
            <a:endParaRPr lang="en-GB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FDF5A-8CA2-919F-CB06-16082737856A}"/>
              </a:ext>
            </a:extLst>
          </p:cNvPr>
          <p:cNvSpPr txBox="1"/>
          <p:nvPr/>
        </p:nvSpPr>
        <p:spPr>
          <a:xfrm>
            <a:off x="6400801" y="1572767"/>
            <a:ext cx="525417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>
                    <a:lumMod val="95000"/>
                  </a:schemeClr>
                </a:solidFill>
              </a:rPr>
              <a:t>Insights</a:t>
            </a:r>
          </a:p>
          <a:p>
            <a:endParaRPr lang="en-US" sz="2400" b="1" u="sng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Countries  in Africa are  the most affected  with new cases of HIV.</a:t>
            </a:r>
          </a:p>
          <a:p>
            <a:endParaRPr lang="en-US" sz="2000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Africa is the region associated with the most HIV related deaths  in total population</a:t>
            </a:r>
            <a:r>
              <a:rPr lang="en-US" sz="2000" b="1" u="sng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endParaRPr lang="en-US" sz="2000" b="1" u="sng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Africa is the top region affected by HIV followed by America.</a:t>
            </a:r>
          </a:p>
          <a:p>
            <a:endParaRPr lang="en-US" sz="2000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Data shows that globally there is an equal average treatment coverage.</a:t>
            </a:r>
          </a:p>
          <a:p>
            <a:endParaRPr lang="en-US" b="1" u="sng" dirty="0">
              <a:solidFill>
                <a:schemeClr val="bg1">
                  <a:lumMod val="95000"/>
                </a:schemeClr>
              </a:solidFill>
            </a:endParaRPr>
          </a:p>
          <a:p>
            <a:endParaRPr lang="en-US" b="1" u="sng" dirty="0">
              <a:solidFill>
                <a:schemeClr val="bg1">
                  <a:lumMod val="95000"/>
                </a:schemeClr>
              </a:solidFill>
            </a:endParaRPr>
          </a:p>
          <a:p>
            <a:endParaRPr lang="en-US" b="1" u="sng" dirty="0">
              <a:solidFill>
                <a:schemeClr val="bg1">
                  <a:lumMod val="95000"/>
                </a:schemeClr>
              </a:solidFill>
            </a:endParaRPr>
          </a:p>
          <a:p>
            <a:endParaRPr lang="en-GB" b="1" u="sng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D976721-6677-FFCC-78F9-F907D88F1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01" y="1255923"/>
            <a:ext cx="5602700" cy="523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76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563FB-BC6A-B3C6-9C42-3EE38A114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45" y="365125"/>
            <a:ext cx="5804541" cy="70351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Recommendation</a:t>
            </a:r>
            <a:endParaRPr lang="en-GB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99BE8-24D4-BF38-22D4-C764822E7105}"/>
              </a:ext>
            </a:extLst>
          </p:cNvPr>
          <p:cNvSpPr txBox="1"/>
          <p:nvPr/>
        </p:nvSpPr>
        <p:spPr>
          <a:xfrm>
            <a:off x="6676222" y="1690688"/>
            <a:ext cx="534043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chemeClr val="bg1">
                    <a:lumMod val="95000"/>
                  </a:schemeClr>
                </a:solidFill>
              </a:rPr>
              <a:t>Insights</a:t>
            </a:r>
          </a:p>
          <a:p>
            <a:endParaRPr lang="en-US" sz="2800" u="sng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Increase ART accessibility in high risk countries.</a:t>
            </a:r>
          </a:p>
          <a:p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Expand HIV awareness and prevention programs across Africa.</a:t>
            </a:r>
          </a:p>
          <a:p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Increase funding to improve testing facilities are expanded into rural areas and made easily accessible .</a:t>
            </a:r>
          </a:p>
          <a:p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Strengthen treatment initiative globally.</a:t>
            </a:r>
          </a:p>
          <a:p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Ensure constant and monitored viral load tests.</a:t>
            </a:r>
            <a:endParaRPr lang="en-GB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E39BDA0-5EEC-FE5A-A0E9-CA9A3FBEF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44" y="1245059"/>
            <a:ext cx="5804541" cy="532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23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48C9A-CC87-CAF9-723E-2F5AB22C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Conclusion</a:t>
            </a:r>
            <a:endParaRPr lang="en-GB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85B58-995A-928E-2DE5-66EFA6987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314"/>
            <a:ext cx="10515600" cy="689428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dirty="0">
                <a:solidFill>
                  <a:schemeClr val="bg1">
                    <a:lumMod val="85000"/>
                  </a:schemeClr>
                </a:solidFill>
              </a:rPr>
              <a:t>This project demonstrates how healthcare data analytics can support informed public health decision and improve HIV intervention strategies globally. </a:t>
            </a:r>
          </a:p>
          <a:p>
            <a:pPr marL="0" indent="0">
              <a:buNone/>
            </a:pPr>
            <a:r>
              <a:rPr lang="en-US" sz="9600" dirty="0">
                <a:solidFill>
                  <a:schemeClr val="bg1">
                    <a:lumMod val="85000"/>
                  </a:schemeClr>
                </a:solidFill>
              </a:rPr>
              <a:t>The dashboard highlights regions with increasing HIV infections and identifies countries with high mortality. infection  and new infection rates.</a:t>
            </a:r>
          </a:p>
          <a:p>
            <a:pPr marL="0" indent="0">
              <a:buNone/>
            </a:pPr>
            <a:r>
              <a:rPr lang="en-US" sz="9600" dirty="0">
                <a:solidFill>
                  <a:schemeClr val="bg1">
                    <a:lumMod val="85000"/>
                  </a:schemeClr>
                </a:solidFill>
              </a:rPr>
              <a:t> The analysis has revealed that that improved treatment coverage and ART accessibility have contributed significantly to reduction in HIV infection related deaths since 2000-2024.</a:t>
            </a:r>
          </a:p>
          <a:p>
            <a:pPr marL="0" indent="0">
              <a:buNone/>
            </a:pPr>
            <a:endParaRPr lang="en-US" sz="96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sz="9600" dirty="0">
                <a:solidFill>
                  <a:schemeClr val="bg1">
                    <a:lumMod val="85000"/>
                  </a:schemeClr>
                </a:solidFill>
              </a:rPr>
              <a:t>However, despite the global decline in mortality , new infections , new infections remain high in several regions, indicating the need for continuous and increased support and investment in  prevention, awareness, testing, treatment and accessibility globally.</a:t>
            </a:r>
          </a:p>
          <a:p>
            <a:pPr marL="0" indent="0">
              <a:buNone/>
            </a:pPr>
            <a:endParaRPr lang="en-US" sz="96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sz="96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9600" dirty="0">
                <a:solidFill>
                  <a:schemeClr val="bg1">
                    <a:lumMod val="85000"/>
                  </a:schemeClr>
                </a:solidFill>
              </a:rPr>
              <a:t>THANK YOU.</a:t>
            </a:r>
          </a:p>
          <a:p>
            <a:pPr marL="0" indent="0" algn="ctr">
              <a:buNone/>
            </a:pPr>
            <a:r>
              <a:rPr lang="en-US" sz="9600" dirty="0">
                <a:solidFill>
                  <a:schemeClr val="bg1">
                    <a:lumMod val="85000"/>
                  </a:schemeClr>
                </a:solidFill>
              </a:rPr>
              <a:t>Questions?</a:t>
            </a:r>
          </a:p>
          <a:p>
            <a:pPr marL="0" indent="0">
              <a:buNone/>
            </a:pPr>
            <a:endParaRPr lang="en-US" sz="9600" dirty="0">
              <a:solidFill>
                <a:schemeClr val="bg1">
                  <a:lumMod val="85000"/>
                </a:schemeClr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5020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401</Words>
  <Application>Microsoft Office PowerPoint</Application>
  <PresentationFormat>Widescreen</PresentationFormat>
  <Paragraphs>58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 WHO HIV Data Analysis Dashboard</vt:lpstr>
      <vt:lpstr>Project Overview</vt:lpstr>
      <vt:lpstr> Data Modeling</vt:lpstr>
      <vt:lpstr>Executive Overview Dashboard</vt:lpstr>
      <vt:lpstr>Treatment and Survival Insights</vt:lpstr>
      <vt:lpstr>Recommendation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nnenna onye</dc:creator>
  <cp:lastModifiedBy>nnenna onye</cp:lastModifiedBy>
  <cp:revision>2</cp:revision>
  <dcterms:created xsi:type="dcterms:W3CDTF">2026-05-21T10:23:48Z</dcterms:created>
  <dcterms:modified xsi:type="dcterms:W3CDTF">2026-05-21T21:01:10Z</dcterms:modified>
</cp:coreProperties>
</file>